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979615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Prepared for Codeit · 윤상훈 ·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45720" cy="1828800"/>
          </a:xfrm>
          <a:prstGeom prst="rect">
            <a:avLst/>
          </a:prstGeom>
          <a:solidFill>
            <a:srgbClr val="6C4DFF"/>
          </a:solidFill>
          <a:ln w="12700">
            <a:solidFill>
              <a:srgbClr val="6C4D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4028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spc="-1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AI를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68680" y="315468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spc="-1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업무에 넣는 법.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68680" y="438912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5A3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도구보다 먼저, 업무를 쪼개는 4가지 질문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5577840"/>
            <a:ext cx="10911535" cy="0"/>
          </a:xfrm>
          <a:prstGeom prst="line">
            <a:avLst/>
          </a:prstGeom>
          <a:noFill/>
          <a:ln w="12700">
            <a:solidFill>
              <a:srgbClr val="0F0F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760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60167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비개발 실무자 / 팀 리더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54680" y="5760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레벨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54680" y="60167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입문 ~ 초급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0" y="5760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포맷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0" y="60167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교육 · 90분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51215" y="5760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INSTRUCTOR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51215" y="6016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윤상훈 · Sanghoon Yoon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51215" y="6291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hoon7624g@gmail.com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pPr indent="0" marL="0">
              <a:buNone/>
            </a:pPr>
            <a:r>
              <a:rPr lang="en-US" sz="1000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</a:t>
            </a:r>
            <a:pPr indent="0" marL="0">
              <a:buNone/>
            </a:pPr>
            <a:r>
              <a:rPr lang="en-US" sz="1000" b="1" spc="4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LEARNING OBJECTIVES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끝나면, 수강생은…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0"/>
          </a:xfrm>
          <a:prstGeom prst="line">
            <a:avLst/>
          </a:prstGeom>
          <a:noFill/>
          <a:ln w="12700">
            <a:solidFill>
              <a:srgbClr val="E7E1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331720"/>
            <a:ext cx="3484778" cy="3017520"/>
          </a:xfrm>
          <a:prstGeom prst="rect">
            <a:avLst/>
          </a:prstGeom>
          <a:solidFill>
            <a:srgbClr val="F8F6FF"/>
          </a:solidFill>
          <a:ln w="12700">
            <a:solidFill>
              <a:srgbClr val="F8F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69748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5A3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05840" y="3657600"/>
            <a:ext cx="2753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-4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AI의 경계를 구분한다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05840" y="4251960"/>
            <a:ext cx="914400" cy="0"/>
          </a:xfrm>
          <a:prstGeom prst="line">
            <a:avLst/>
          </a:prstGeom>
          <a:noFill/>
          <a:ln w="12700">
            <a:solidFill>
              <a:srgbClr val="6C4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38912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spc="-2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AI가 잘하는 일과 잘 못하는 일을 사례 기준으로 구분할 수 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53458" y="2331720"/>
            <a:ext cx="3484778" cy="3017520"/>
          </a:xfrm>
          <a:prstGeom prst="rect">
            <a:avLst/>
          </a:prstGeom>
          <a:solidFill>
            <a:srgbClr val="F8F6FF"/>
          </a:solidFill>
          <a:ln w="12700">
            <a:solidFill>
              <a:srgbClr val="F8F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9218" y="269748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5A3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719218" y="3657600"/>
            <a:ext cx="2753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-4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업무를 쪼갤 수 있다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19218" y="4251960"/>
            <a:ext cx="914400" cy="0"/>
          </a:xfrm>
          <a:prstGeom prst="line">
            <a:avLst/>
          </a:prstGeom>
          <a:noFill/>
          <a:ln w="12700">
            <a:solidFill>
              <a:srgbClr val="6C4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9218" y="438912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spc="-2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업무를 4가지 질문으로 쪼개서 종이에 그릴 수 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66837" y="2331720"/>
            <a:ext cx="3484778" cy="3017520"/>
          </a:xfrm>
          <a:prstGeom prst="rect">
            <a:avLst/>
          </a:prstGeom>
          <a:solidFill>
            <a:srgbClr val="F8F6FF"/>
          </a:solidFill>
          <a:ln w="12700">
            <a:solidFill>
              <a:srgbClr val="F8F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2597" y="269748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5A3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8432597" y="3657600"/>
            <a:ext cx="2753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-4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 시작점을 갖는다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432597" y="4251960"/>
            <a:ext cx="914400" cy="0"/>
          </a:xfrm>
          <a:prstGeom prst="line">
            <a:avLst/>
          </a:prstGeom>
          <a:noFill/>
          <a:ln w="12700">
            <a:solidFill>
              <a:srgbClr val="6C4D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2597" y="438912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spc="-2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내일부터 시작할 수 있는 한 가지 작은 적용점을 가지고 나간다.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7E1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AI를 내 업무에 넣는 법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18001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pPr indent="0" marL="0">
              <a:buNone/>
            </a:pPr>
            <a:r>
              <a:rPr lang="en-US" sz="1000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</a:t>
            </a:r>
            <a:pPr indent="0" marL="0">
              <a:buNone/>
            </a:pPr>
            <a:r>
              <a:rPr lang="en-US" sz="1000" b="1" spc="4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FOUNDATIONS · 본문 전체의 기준점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잘하는 일과 잘 못하는 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-2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 기준은 하나 — 결과를 사람이 바로 좋다·나쁘다로 판단할 수 있는가.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0"/>
          </a:xfrm>
          <a:prstGeom prst="line">
            <a:avLst/>
          </a:prstGeom>
          <a:noFill/>
          <a:ln w="12700">
            <a:solidFill>
              <a:srgbClr val="E7E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514600"/>
            <a:ext cx="527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5A3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잘하는 일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097280" cy="0"/>
          </a:xfrm>
          <a:prstGeom prst="line">
            <a:avLst/>
          </a:prstGeom>
          <a:noFill/>
          <a:ln w="25400">
            <a:solidFill>
              <a:srgbClr val="6C4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3832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383280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많은 글을 짧게 요약한다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00507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4005072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정해진 형식으로 초안을 만든다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62686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4626864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비슷한 일을 반복해서 처리한다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524865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5248656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외국어를 자연스러운 한국어로 바꾼다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95848" y="2514600"/>
            <a:ext cx="0" cy="3474720"/>
          </a:xfrm>
          <a:prstGeom prst="line">
            <a:avLst/>
          </a:prstGeom>
          <a:noFill/>
          <a:ln w="12700">
            <a:solidFill>
              <a:srgbClr val="E7E1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8728" y="2514600"/>
            <a:ext cx="527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못하는 일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78728" y="3017520"/>
            <a:ext cx="1097280" cy="0"/>
          </a:xfrm>
          <a:prstGeom prst="line">
            <a:avLst/>
          </a:prstGeom>
          <a:noFill/>
          <a:ln w="25400">
            <a:solidFill>
              <a:srgbClr val="5C60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8728" y="33832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07328" y="3383280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최신 사실을 정확히 인용한다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78728" y="400507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07328" y="4005072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숫자를 정확히 계산한다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78728" y="462686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07328" y="4626864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 보는 문제를 스스로 판단한다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78728" y="524865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07328" y="5248656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책임져야 하는 결정을 내린다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7E1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AI를 내 업무에 넣는 법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18001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pPr indent="0" marL="0">
              <a:buNone/>
            </a:pPr>
            <a:r>
              <a:rPr lang="en-US" sz="1000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</a:t>
            </a:r>
            <a:pPr indent="0" marL="0">
              <a:buNone/>
            </a:pPr>
            <a:r>
              <a:rPr lang="en-US" sz="1000" b="1" spc="4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FRICTION POINTS · 수강생 공감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AI를 실무에 녹일 때 가장 자주 막히는 5곳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기술적 문제가 아니라 '업무를 어떻게 바라볼 것인가'에서 막힙니다.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0"/>
          </a:xfrm>
          <a:prstGeom prst="line">
            <a:avLst/>
          </a:prstGeom>
          <a:noFill/>
          <a:ln w="12700">
            <a:solidFill>
              <a:srgbClr val="E7E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514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-3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2514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도구를 고른다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2514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57800" y="2514600"/>
            <a:ext cx="6248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5A3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어디에 쓸지에서</a:t>
            </a:r>
            <a:pPr indent="0" marL="0">
              <a:buNone/>
            </a:pPr>
            <a:r>
              <a:rPr lang="en-US" sz="1600" spc="-3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막힌다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10911535" cy="0"/>
          </a:xfrm>
          <a:prstGeom prst="line">
            <a:avLst/>
          </a:prstGeom>
          <a:noFill/>
          <a:ln w="9525">
            <a:solidFill>
              <a:srgbClr val="E7E1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095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-3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320954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프롬프트를 짠다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320954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57800" y="3209544"/>
            <a:ext cx="6248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5A3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시킬지에서</a:t>
            </a:r>
            <a:pPr indent="0" marL="0">
              <a:buNone/>
            </a:pPr>
            <a:r>
              <a:rPr lang="en-US" sz="1600" spc="-3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막힌다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3758184"/>
            <a:ext cx="10911535" cy="0"/>
          </a:xfrm>
          <a:prstGeom prst="line">
            <a:avLst/>
          </a:prstGeom>
          <a:noFill/>
          <a:ln w="9525">
            <a:solidFill>
              <a:srgbClr val="E7E1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9044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-3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25880" y="39044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결과를 받는다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39044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57800" y="3904488"/>
            <a:ext cx="6248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5A3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이걸 쓸 수 있나에서</a:t>
            </a:r>
            <a:pPr indent="0" marL="0">
              <a:buNone/>
            </a:pPr>
            <a:r>
              <a:rPr lang="en-US" sz="1600" spc="-3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막힌다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4453128"/>
            <a:ext cx="10911535" cy="0"/>
          </a:xfrm>
          <a:prstGeom prst="line">
            <a:avLst/>
          </a:prstGeom>
          <a:noFill/>
          <a:ln w="9525">
            <a:solidFill>
              <a:srgbClr val="E7E1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5994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-3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25880" y="45994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동료에게 공유한다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46320" y="459943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57800" y="4599432"/>
            <a:ext cx="6248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5A3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이걸 해야 하나에서</a:t>
            </a:r>
            <a:pPr indent="0" marL="0">
              <a:buNone/>
            </a:pPr>
            <a:r>
              <a:rPr lang="en-US" sz="1600" spc="-3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막힌다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5148072"/>
            <a:ext cx="10911535" cy="0"/>
          </a:xfrm>
          <a:prstGeom prst="line">
            <a:avLst/>
          </a:prstGeom>
          <a:noFill/>
          <a:ln w="9525">
            <a:solidFill>
              <a:srgbClr val="E7E1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29437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-3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325880" y="529437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업무에 적용한다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46320" y="52943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57800" y="5294376"/>
            <a:ext cx="6248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5A3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어디까지 맡길까에서</a:t>
            </a:r>
            <a:pPr indent="0" marL="0">
              <a:buNone/>
            </a:pPr>
            <a:r>
              <a:rPr lang="en-US" sz="1600" spc="-3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막힌다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0080" y="5843016"/>
            <a:ext cx="10911535" cy="0"/>
          </a:xfrm>
          <a:prstGeom prst="line">
            <a:avLst/>
          </a:prstGeom>
          <a:noFill/>
          <a:ln w="9525">
            <a:solidFill>
              <a:srgbClr val="E7E1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7E1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AI를 내 업무에 넣는 법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18001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pPr indent="0" marL="0">
              <a:buNone/>
            </a:pPr>
            <a:r>
              <a:rPr lang="en-US" sz="1000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</a:t>
            </a:r>
            <a:pPr indent="0" marL="0">
              <a:buNone/>
            </a:pPr>
            <a:r>
              <a:rPr lang="en-US" sz="1000" b="1" spc="4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GAP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-100" kern="0" dirty="0">
                <a:solidFill>
                  <a:srgbClr val="5A3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"ChatGPT 쓸 줄 안다"</a:t>
            </a:r>
            <a:pPr algn="ctr" indent="0" marL="0">
              <a:buNone/>
            </a:pPr>
            <a:r>
              <a:rPr lang="en-US" sz="3600" spc="-10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와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-100" kern="0" dirty="0">
                <a:solidFill>
                  <a:srgbClr val="5A3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"내 업무 안에 넣을 수 있다"</a:t>
            </a:r>
            <a:pPr algn="ctr" indent="0" marL="0">
              <a:buNone/>
            </a:pPr>
            <a:r>
              <a:rPr lang="en-US" sz="3600" spc="-10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사이에는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spc="-10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생각보다 </a:t>
            </a:r>
            <a:pPr algn="ctr" indent="0" marL="0">
              <a:buNone/>
            </a:pPr>
            <a:r>
              <a:rPr lang="en-US" sz="3600" b="1" spc="-10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큰 거리</a:t>
            </a:r>
            <a:pPr algn="ctr" indent="0" marL="0">
              <a:buNone/>
            </a:pPr>
            <a:r>
              <a:rPr lang="en-US" sz="3600" spc="-10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있습니다.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57150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-2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나머지 시간은 이 거리를 구조적으로 좁히는 방법을 다룹니다.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7E1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AI를 내 업무에 넣는 법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18001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pPr indent="0" marL="0">
              <a:buNone/>
            </a:pPr>
            <a:r>
              <a:rPr lang="en-US" sz="1000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</a:t>
            </a:r>
            <a:pPr indent="0" marL="0">
              <a:buNone/>
            </a:pPr>
            <a:r>
              <a:rPr lang="en-US" sz="1000" b="1" spc="4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업무를 쪼개는 4가지 질문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순서가 중요합니다. 대부분 Q4부터 결정해 버려서 앞의 세 질문이 비게 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274820"/>
            <a:ext cx="10911535" cy="0"/>
          </a:xfrm>
          <a:prstGeom prst="line">
            <a:avLst/>
          </a:prstGeom>
          <a:noFill/>
          <a:ln w="12700">
            <a:solidFill>
              <a:srgbClr val="E7E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5848" y="2331720"/>
            <a:ext cx="0" cy="3886200"/>
          </a:xfrm>
          <a:prstGeom prst="line">
            <a:avLst/>
          </a:prstGeom>
          <a:noFill/>
          <a:ln w="12700">
            <a:solidFill>
              <a:srgbClr val="E7E1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31720"/>
            <a:ext cx="10911535" cy="0"/>
          </a:xfrm>
          <a:prstGeom prst="line">
            <a:avLst/>
          </a:prstGeom>
          <a:noFill/>
          <a:ln w="12700">
            <a:solidFill>
              <a:srgbClr val="0F0F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6217920"/>
            <a:ext cx="10911535" cy="0"/>
          </a:xfrm>
          <a:prstGeom prst="line">
            <a:avLst/>
          </a:prstGeom>
          <a:noFill/>
          <a:ln w="12700">
            <a:solidFill>
              <a:srgbClr val="E7E1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0175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005840" y="356616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반복하고 있는가?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3817620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선별 · 빈도·형식·입력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61608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61608" y="30175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461608" y="356616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반복하고 있는가?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61608" y="3817620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선별 · 하는 일 vs 얻으려는 것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45948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49606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어디서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1005840" y="550926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꼭 필요한가?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" y="5760720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통제 설계 · HITL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61608" y="45948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61608" y="49606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어디부터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461608" y="550926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바꿀 수 있는가?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61608" y="5760720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시작점 · 빈도·난이도·평가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7E1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AI를 내 업무에 넣는 법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18001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pPr indent="0" marL="0">
              <a:buNone/>
            </a:pPr>
            <a:r>
              <a:rPr lang="en-US" sz="1000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</a:t>
            </a:r>
            <a:pPr indent="0" marL="0">
              <a:buNone/>
            </a:pPr>
            <a:r>
              <a:rPr lang="en-US" sz="1000" b="1" spc="4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 1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spc="-4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Q1.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반복하고</a:t>
            </a:r>
            <a:endParaRPr lang="en-US" sz="2200" dirty="0"/>
          </a:p>
          <a:p>
            <a:pPr indent="0" marL="0">
              <a:buNone/>
            </a:pPr>
            <a:r>
              <a:rPr lang="en-US" sz="2200" b="1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있는가?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206240" y="1051560"/>
            <a:ext cx="0" cy="4937760"/>
          </a:xfrm>
          <a:prstGeom prst="line">
            <a:avLst/>
          </a:prstGeom>
          <a:noFill/>
          <a:ln w="12700">
            <a:solidFill>
              <a:srgbClr val="E7E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1051560"/>
            <a:ext cx="6979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업무 식별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79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4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업무를 알아보는 세 기준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1920240"/>
            <a:ext cx="1097280" cy="0"/>
          </a:xfrm>
          <a:prstGeom prst="line">
            <a:avLst/>
          </a:prstGeom>
          <a:noFill/>
          <a:ln w="25400">
            <a:solidFill>
              <a:srgbClr val="6C4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5A3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219456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3회 이상 같은 일을 하고 있다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0" y="256032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-2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분기/월 단위 업무는 대부분 자동화 투자 회수가 어렵습니다.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5A3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306324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결과물의 모양이 거의 정해져 있다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0" y="342900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-2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매번 형식이 달라지면 검증과 재작업 비용이 누적됩니다.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3931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5A3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393192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시작할 때 받는 정보가 거의 정해져 있다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43600" y="429768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-2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입력이 매번 달라지면 프롬프트도 매번 새로 짜야 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5623560"/>
            <a:ext cx="6979615" cy="548640"/>
          </a:xfrm>
          <a:prstGeom prst="rect">
            <a:avLst/>
          </a:prstGeom>
          <a:solidFill>
            <a:srgbClr val="F8F6FF"/>
          </a:solidFill>
          <a:ln w="12700">
            <a:solidFill>
              <a:srgbClr val="F8F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5623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5623560"/>
            <a:ext cx="6156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-2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기준을 동시에 만족할 때에만 AI 워크플로 후보.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7E1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AI를 내 업무에 넣는 법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18001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pPr indent="0" marL="0">
              <a:buNone/>
            </a:pPr>
            <a:r>
              <a:rPr lang="en-US" sz="1000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</a:t>
            </a:r>
            <a:pPr indent="0" marL="0">
              <a:buNone/>
            </a:pPr>
            <a:r>
              <a:rPr lang="en-US" sz="1000" b="1" spc="4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 2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spc="-4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Q2.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반복하고</a:t>
            </a:r>
            <a:endParaRPr lang="en-US" sz="2200" dirty="0"/>
          </a:p>
          <a:p>
            <a:pPr indent="0" marL="0">
              <a:buNone/>
            </a:pPr>
            <a:r>
              <a:rPr lang="en-US" sz="2200" b="1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있는가?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206240" y="1051560"/>
            <a:ext cx="0" cy="4937760"/>
          </a:xfrm>
          <a:prstGeom prst="line">
            <a:avLst/>
          </a:prstGeom>
          <a:noFill/>
          <a:ln w="12700">
            <a:solidFill>
              <a:srgbClr val="E7E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1051560"/>
            <a:ext cx="6979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REFRAMING THE TARGET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79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4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"하고 있는 일"과 "얻으려는 것"은 다릅니다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1920240"/>
            <a:ext cx="1097280" cy="0"/>
          </a:xfrm>
          <a:prstGeom prst="line">
            <a:avLst/>
          </a:prstGeom>
          <a:noFill/>
          <a:ln w="25400">
            <a:solidFill>
              <a:srgbClr val="6C4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286000"/>
            <a:ext cx="6979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하는 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651760"/>
            <a:ext cx="6979615" cy="685800"/>
          </a:xfrm>
          <a:prstGeom prst="rect">
            <a:avLst/>
          </a:prstGeom>
          <a:solidFill>
            <a:srgbClr val="F8F6FF"/>
          </a:solidFill>
          <a:ln w="12700">
            <a:solidFill>
              <a:srgbClr val="F8F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651760"/>
            <a:ext cx="6522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-4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 리포트 작성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3566160"/>
            <a:ext cx="6979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얻으려는 것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3931920"/>
            <a:ext cx="6979615" cy="685800"/>
          </a:xfrm>
          <a:prstGeom prst="rect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3931920"/>
            <a:ext cx="6522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4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팀이 이번 주 무엇을 했는지 10분 안에 파악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5212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37760" y="5212080"/>
            <a:ext cx="6613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-3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대상은 </a:t>
            </a:r>
            <a:pPr indent="0" marL="0">
              <a:buNone/>
            </a:pPr>
            <a:r>
              <a:rPr lang="en-US" sz="1700" b="1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"리포트 작성"</a:t>
            </a:r>
            <a:pPr indent="0" marL="0">
              <a:buNone/>
            </a:pPr>
            <a:r>
              <a:rPr lang="en-US" sz="1700" spc="-3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아니라 </a:t>
            </a:r>
            <a:pPr indent="0" marL="0">
              <a:buNone/>
            </a:pPr>
            <a:r>
              <a:rPr lang="en-US" sz="1700" b="1" spc="-30" kern="0" dirty="0">
                <a:solidFill>
                  <a:srgbClr val="5A3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"상태 요약"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7E1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AI를 내 업무에 넣는 법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18001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pPr indent="0" marL="0">
              <a:buNone/>
            </a:pPr>
            <a:r>
              <a:rPr lang="en-US" sz="1000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</a:t>
            </a:r>
            <a:pPr indent="0" marL="0">
              <a:buNone/>
            </a:pPr>
            <a:r>
              <a:rPr lang="en-US" sz="1000" b="1" spc="4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 3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spc="-4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Q3.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어디서 사람이</a:t>
            </a:r>
            <a:endParaRPr lang="en-US" sz="2200" dirty="0"/>
          </a:p>
          <a:p>
            <a:pPr indent="0" marL="0">
              <a:buNone/>
            </a:pPr>
            <a:r>
              <a:rPr lang="en-US" sz="2200" b="1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꼭 필요한가?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206240" y="1051560"/>
            <a:ext cx="0" cy="4937760"/>
          </a:xfrm>
          <a:prstGeom prst="line">
            <a:avLst/>
          </a:prstGeom>
          <a:noFill/>
          <a:ln w="12700">
            <a:solidFill>
              <a:srgbClr val="E7E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1051560"/>
            <a:ext cx="6979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HUMAN-IN-THE-LOOP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79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4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꼭 필요한 세 지점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1920240"/>
            <a:ext cx="1097280" cy="0"/>
          </a:xfrm>
          <a:prstGeom prst="line">
            <a:avLst/>
          </a:prstGeom>
          <a:noFill/>
          <a:ln w="25400">
            <a:solidFill>
              <a:srgbClr val="6C4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5A3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219456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되돌리기 어려운 결정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0" y="256032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-2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발송 · 공지 · 발행처럼 한 번 나간 뒤 되돌리기 어려운 지점.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5A3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306324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책임을 져야 하는 지점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0" y="342900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-2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대외 커뮤니케이션, 법적 효력이 따르는 문서.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3931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5A3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393192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실패가 큰 영향을 주는 지점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43600" y="429768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-2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드물지만 치명적인 오류의 비용이 큰 영역.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5623560"/>
            <a:ext cx="6979615" cy="548640"/>
          </a:xfrm>
          <a:prstGeom prst="rect">
            <a:avLst/>
          </a:prstGeom>
          <a:solidFill>
            <a:srgbClr val="F8F6FF"/>
          </a:solidFill>
          <a:ln w="12700">
            <a:solidFill>
              <a:srgbClr val="F8F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5623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5623560"/>
            <a:ext cx="6156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-2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HITL = Human-in-the-loop · "사람이 마지막에 보는 단계".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7E1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AI를 내 업무에 넣는 법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18001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pPr indent="0" marL="0">
              <a:buNone/>
            </a:pPr>
            <a:r>
              <a:rPr lang="en-US" sz="1000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</a:t>
            </a:r>
            <a:pPr indent="0" marL="0">
              <a:buNone/>
            </a:pPr>
            <a:r>
              <a:rPr lang="en-US" sz="1000" b="1" spc="4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 4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spc="-4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Q4.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어디부터 바꿀</a:t>
            </a:r>
            <a:endParaRPr lang="en-US" sz="2200" dirty="0"/>
          </a:p>
          <a:p>
            <a:pPr indent="0" marL="0">
              <a:buNone/>
            </a:pPr>
            <a:r>
              <a:rPr lang="en-US" sz="2200" b="1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 있는가?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206240" y="1051560"/>
            <a:ext cx="0" cy="4937760"/>
          </a:xfrm>
          <a:prstGeom prst="line">
            <a:avLst/>
          </a:prstGeom>
          <a:noFill/>
          <a:ln w="12700">
            <a:solidFill>
              <a:srgbClr val="E7E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1051560"/>
            <a:ext cx="6979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시작점 선택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79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4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 바꿀 업무 고르는 법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1920240"/>
            <a:ext cx="1097280" cy="0"/>
          </a:xfrm>
          <a:prstGeom prst="line">
            <a:avLst/>
          </a:prstGeom>
          <a:noFill/>
          <a:ln w="25400">
            <a:solidFill>
              <a:srgbClr val="6C4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5A3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빈도 높고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219456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일어나는가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0" y="256032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-2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성공을 빨리 얻어야 조직 안에서 다음 자동화 후보를 정당화할 수 있습니다.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5A3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난이도 낮고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306324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실패해도 큰일 안 나는가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0" y="342900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-2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 도입할 업무는 욕심을 낮추는 것이 중요합니다.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3931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5A3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쉽고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393192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결과를 바로 좋고 나쁨 판단할 수 있는가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43600" y="429768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-20" kern="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 기준이 애매하면 도입 여부도 애매해집니다.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5623560"/>
            <a:ext cx="6979615" cy="548640"/>
          </a:xfrm>
          <a:prstGeom prst="rect">
            <a:avLst/>
          </a:prstGeom>
          <a:solidFill>
            <a:srgbClr val="F8F6FF"/>
          </a:solidFill>
          <a:ln w="12700">
            <a:solidFill>
              <a:srgbClr val="F8F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5623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5623560"/>
            <a:ext cx="6156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-2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조건을 모두 만족하는 업무 한 개부터.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7E1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AI를 내 업무에 넣는 법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18001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pPr indent="0" marL="0">
              <a:buNone/>
            </a:pPr>
            <a:r>
              <a:rPr lang="en-US" sz="1000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</a:t>
            </a:r>
            <a:pPr indent="0" marL="0">
              <a:buNone/>
            </a:pPr>
            <a:r>
              <a:rPr lang="en-US" sz="1000" b="1" spc="4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APPLIED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적용 사례 · 영상 콘텐츠 제작 자동화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가지 질문을 직접 만든 프로덕트에 그대로 적용한 예시입니다.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0"/>
          </a:xfrm>
          <a:prstGeom prst="line">
            <a:avLst/>
          </a:prstGeom>
          <a:noFill/>
          <a:ln w="12700">
            <a:solidFill>
              <a:srgbClr val="E7E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468880"/>
            <a:ext cx="531860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1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97480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 · 무엇을 반복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3017520"/>
            <a:ext cx="457200" cy="0"/>
          </a:xfrm>
          <a:prstGeom prst="line">
            <a:avLst/>
          </a:prstGeom>
          <a:noFill/>
          <a:ln w="19050">
            <a:solidFill>
              <a:srgbClr val="6C4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00400"/>
            <a:ext cx="476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5편 · 주제 리서치 + 스크립트 + 음성 + 영상 조합을 정기 발행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33008" y="2468880"/>
            <a:ext cx="531860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1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7328" y="2697480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 · 왜 반복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07328" y="3017520"/>
            <a:ext cx="457200" cy="0"/>
          </a:xfrm>
          <a:prstGeom prst="line">
            <a:avLst/>
          </a:prstGeom>
          <a:noFill/>
          <a:ln w="19050">
            <a:solidFill>
              <a:srgbClr val="6C4D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3200400"/>
            <a:ext cx="476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전달형 포맷을 정기 발행 리듬으로 유지하기 위해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531860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1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26280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 · 사람 필요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4846320"/>
            <a:ext cx="457200" cy="0"/>
          </a:xfrm>
          <a:prstGeom prst="line">
            <a:avLst/>
          </a:prstGeom>
          <a:noFill/>
          <a:ln w="19050">
            <a:solidFill>
              <a:srgbClr val="6C4D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029200"/>
            <a:ext cx="476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발행 전 검수 · 사실 오류와 톤 (발행 후 되돌리기 어려움)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33008" y="4297680"/>
            <a:ext cx="531860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1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7328" y="4526280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Q4 · 어디부터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07328" y="4846320"/>
            <a:ext cx="457200" cy="0"/>
          </a:xfrm>
          <a:prstGeom prst="line">
            <a:avLst/>
          </a:prstGeom>
          <a:noFill/>
          <a:ln w="19050">
            <a:solidFill>
              <a:srgbClr val="6C4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07328" y="5029200"/>
            <a:ext cx="476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낮은 리스크 지점 · 리서치와 스크립트 초안 (실패해도 재작성 가능)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6126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깊은 구조(멀티 LLM 오케스트레이션 · 실패 모드 · ROI 추정)는 심화 샘플 강의안에서 다룹니다.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7E1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AI를 내 업무에 넣는 법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18001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pPr indent="0" marL="0">
              <a:buNone/>
            </a:pPr>
            <a:r>
              <a:rPr lang="en-US" sz="1000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</a:t>
            </a:r>
            <a:pPr indent="0" marL="0">
              <a:buNone/>
            </a:pPr>
            <a:r>
              <a:rPr lang="en-US" sz="1000" b="1" spc="4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ANTI-PATTERNS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도입할 때 많이 하는 실수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문제가 아니라 접근 순서가 만드는 실수들.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0"/>
          </a:xfrm>
          <a:prstGeom prst="line">
            <a:avLst/>
          </a:prstGeom>
          <a:noFill/>
          <a:ln w="12700">
            <a:solidFill>
              <a:srgbClr val="E7E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468880"/>
            <a:ext cx="3484778" cy="3474720"/>
          </a:xfrm>
          <a:prstGeom prst="rect">
            <a:avLst/>
          </a:prstGeom>
          <a:solidFill>
            <a:srgbClr val="1F2027"/>
          </a:solidFill>
          <a:ln w="12700">
            <a:solidFill>
              <a:srgbClr val="1F20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78892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24612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도구부터 고른다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05840" y="4343400"/>
            <a:ext cx="914400" cy="0"/>
          </a:xfrm>
          <a:prstGeom prst="line">
            <a:avLst/>
          </a:prstGeom>
          <a:noFill/>
          <a:ln w="12700">
            <a:solidFill>
              <a:srgbClr val="6C4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4805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D4D7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"ChatGPT 써보자"에서 시작.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937760"/>
            <a:ext cx="27532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-20" kern="0" dirty="0">
                <a:solidFill>
                  <a:srgbClr val="9A9E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도구가 먼저 정해지면 그 도구로 할 수 있는 일만 보입니다. 업무부터 쪼갠 다음 도구를 고르면, 도구가 바뀌어도 설계가 살아남습니다.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53458" y="2468880"/>
            <a:ext cx="3484778" cy="3474720"/>
          </a:xfrm>
          <a:prstGeom prst="rect">
            <a:avLst/>
          </a:prstGeom>
          <a:solidFill>
            <a:srgbClr val="1F2027"/>
          </a:solidFill>
          <a:ln w="12700">
            <a:solidFill>
              <a:srgbClr val="1F20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9218" y="278892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19218" y="324612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번에 전부 바꾸려 한다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719218" y="4343400"/>
            <a:ext cx="914400" cy="0"/>
          </a:xfrm>
          <a:prstGeom prst="line">
            <a:avLst/>
          </a:prstGeom>
          <a:noFill/>
          <a:ln w="12700">
            <a:solidFill>
              <a:srgbClr val="6C4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9218" y="44805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D4D7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전체를 자동화하려다 멈춤.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19218" y="4937760"/>
            <a:ext cx="27532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-20" kern="0" dirty="0">
                <a:solidFill>
                  <a:srgbClr val="9A9E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전체를 대상으로 잡으면 대부분 중간에 멈춥니다. Q4에서 말한 가장 작은 업무 하나부터 시작해야 합니다.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66837" y="2468880"/>
            <a:ext cx="3484778" cy="3474720"/>
          </a:xfrm>
          <a:prstGeom prst="rect">
            <a:avLst/>
          </a:prstGeom>
          <a:solidFill>
            <a:srgbClr val="1F2027"/>
          </a:solidFill>
          <a:ln w="12700">
            <a:solidFill>
              <a:srgbClr val="1F20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2597" y="278892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32597" y="324612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 판단 기준을 안 정한다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432597" y="4343400"/>
            <a:ext cx="914400" cy="0"/>
          </a:xfrm>
          <a:prstGeom prst="line">
            <a:avLst/>
          </a:prstGeom>
          <a:noFill/>
          <a:ln w="12700">
            <a:solidFill>
              <a:srgbClr val="6C4D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32597" y="44805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D4D7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"잘 되는 것 같다"에서 머무름.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32597" y="4937760"/>
            <a:ext cx="27532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-20" kern="0" dirty="0">
                <a:solidFill>
                  <a:srgbClr val="9A9E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 기준이 애매하면 도입 여부도 애매해집니다. 도입 전에 "이 수치가 이렇게 바뀌면 성공"이라는 기준을 미리 써 두어야 합니다.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7E1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AI를 내 업무에 넣는 법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18001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pPr indent="0" marL="0">
              <a:buNone/>
            </a:pPr>
            <a:r>
              <a:rPr lang="en-US" sz="1000" spc="4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</a:t>
            </a:r>
            <a:pPr indent="0" marL="0">
              <a:buNone/>
            </a:pPr>
            <a:r>
              <a:rPr lang="en-US" sz="1000" b="1" spc="4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TAKEAWAYS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세 줄만 기억하세요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0"/>
          </a:xfrm>
          <a:prstGeom prst="line">
            <a:avLst/>
          </a:prstGeom>
          <a:noFill/>
          <a:ln w="12700">
            <a:solidFill>
              <a:srgbClr val="E7E1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spc="-3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2011680" y="2240280"/>
            <a:ext cx="9539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도구를 고르기 전에, 업무를 먼저 쪼갠다.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0911535" cy="0"/>
          </a:xfrm>
          <a:prstGeom prst="line">
            <a:avLst/>
          </a:prstGeom>
          <a:noFill/>
          <a:ln w="9525">
            <a:solidFill>
              <a:srgbClr val="E7E1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089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spc="-3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2011680" y="3246120"/>
            <a:ext cx="9539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꼭 필요한 지점을 먼저 정한다.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10911535" cy="0"/>
          </a:xfrm>
          <a:prstGeom prst="line">
            <a:avLst/>
          </a:prstGeom>
          <a:noFill/>
          <a:ln w="9525">
            <a:solidFill>
              <a:srgbClr val="E7E1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1148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spc="-300" kern="0" dirty="0">
                <a:solidFill>
                  <a:srgbClr val="6C4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2011680" y="4251960"/>
            <a:ext cx="9539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작고 실패해도 괜찮은 업무부터 시작한다.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40080" y="5257800"/>
            <a:ext cx="10911535" cy="0"/>
          </a:xfrm>
          <a:prstGeom prst="line">
            <a:avLst/>
          </a:prstGeom>
          <a:noFill/>
          <a:ln w="12700">
            <a:solidFill>
              <a:srgbClr val="0F0F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37667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200" kern="0" dirty="0">
                <a:solidFill>
                  <a:srgbClr val="5A3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 &amp; A.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979615" y="53766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INSTRUCTOR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79615" y="56144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-30" kern="0" dirty="0">
                <a:solidFill>
                  <a:srgbClr val="1718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윤상훈 · Sanghoon Yoon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79615" y="58887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hoon7624g@gmail.com  ·  +82 10 2765 7624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79615" y="6099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심화 샘플 · 영상·콘텐츠 자동화 파이프라인 설계 (별도 제공)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7E1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AI를 내 업무에 넣는 법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18001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E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Sample Curriculum for Codeit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생성형 AI를 내 업무에 넣는 법</dc:title>
  <dc:subject>PptxGenJS Presentation</dc:subject>
  <dc:creator>윤상훈 Sanghoon Yoon</dc:creator>
  <cp:lastModifiedBy>윤상훈 Sanghoon Yoon</cp:lastModifiedBy>
  <cp:revision>1</cp:revision>
  <dcterms:created xsi:type="dcterms:W3CDTF">2026-04-22T23:04:36Z</dcterms:created>
  <dcterms:modified xsi:type="dcterms:W3CDTF">2026-04-22T23:04:36Z</dcterms:modified>
</cp:coreProperties>
</file>